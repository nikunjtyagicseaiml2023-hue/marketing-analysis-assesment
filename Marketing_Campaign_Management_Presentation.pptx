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1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5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9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5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225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69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74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51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8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86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77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48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34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61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77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259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4803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333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046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14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01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42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49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11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89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5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85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Marketing Campaign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Management presentation | 60,000-row working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Business problem: identify which campaign types, channels and customer segments deserve greater management attention.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Objective: compare campaign reach and engagement indicators to support better marketing allocation.</a:t>
            </a:r>
          </a:p>
          <a:p>
            <a:pPr>
              <a:spcAft>
                <a:spcPts val="1200"/>
              </a:spcAft>
              <a:defRPr sz="2000">
                <a:solidFill>
                  <a:srgbClr val="232323"/>
                </a:solidFill>
              </a:defRPr>
            </a:pPr>
            <a:r>
              <a:t>Audience: non-technical senior/business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00600"/>
            <a:ext cx="32918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4910328"/>
            <a:ext cx="29626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rPr dirty="0"/>
              <a:t>DATA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r>
              <a:rPr dirty="0"/>
              <a:t>Marketing campaigns</a:t>
            </a:r>
          </a:p>
          <a:p>
            <a:pPr>
              <a:defRPr sz="1000">
                <a:solidFill>
                  <a:srgbClr val="5F6973"/>
                </a:solidFill>
              </a:defRPr>
            </a:pPr>
            <a:r>
              <a:rPr dirty="0"/>
              <a:t>Campaign, channel, audience and performance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800600"/>
            <a:ext cx="32918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1" y="4910328"/>
            <a:ext cx="29626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t>WORKING EXTRACT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r>
              <a:t>60,000 rows</a:t>
            </a:r>
          </a:p>
          <a:p>
            <a:pPr>
              <a:defRPr sz="1000">
                <a:solidFill>
                  <a:srgbClr val="5F6973"/>
                </a:solidFill>
              </a:defRPr>
            </a:pPr>
            <a:r>
              <a:t>Subset used for the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800600"/>
            <a:ext cx="329184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4910328"/>
            <a:ext cx="29626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t>APPROACH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r>
              <a:t>Compare + segment</a:t>
            </a:r>
          </a:p>
          <a:p>
            <a:pPr>
              <a:defRPr sz="1000">
                <a:solidFill>
                  <a:srgbClr val="5F6973"/>
                </a:solidFill>
              </a:defRPr>
            </a:pPr>
            <a:r>
              <a:t>Channel, campaign type and customer segment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Slide 2 — 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Data used: campaign type, target audience, duration, channel, location, language, impressions, engagement and customer segment.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Preparation: imported the CSV, checked structure, retained the assessment working range and kept fields consistent across analysis sheets.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Methods: totals and averages, pivot-table summaries, segment comparisons and trend/category charts.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Focus: understand where campaigns generate stronger reach and engagement rather than creating charts only for appearance.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Slide 3 — 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435607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t>CAMPAIGN MIX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r>
              <a:t>5 types</a:t>
            </a:r>
          </a:p>
          <a:p>
            <a:pPr>
              <a:defRPr sz="1000">
                <a:solidFill>
                  <a:srgbClr val="5F6973"/>
                </a:solidFill>
              </a:defRPr>
            </a:pPr>
            <a:r>
              <a:t>Email, Influencer, Search, Display, Social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3712" y="1435607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t>CHANNEL MIX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r>
              <a:t>6 channels</a:t>
            </a:r>
          </a:p>
          <a:p>
            <a:pPr>
              <a:defRPr sz="1000">
                <a:solidFill>
                  <a:srgbClr val="5F6973"/>
                </a:solidFill>
              </a:defRPr>
            </a:pPr>
            <a:r>
              <a:t>Email, Facebook, Google Ads, Instagram, Website, YouTube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11312" y="1435607"/>
            <a:ext cx="305409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t>CUSTOMER SEGMENTS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r>
              <a:t>5 groups</a:t>
            </a:r>
          </a:p>
          <a:p>
            <a:pPr>
              <a:defRPr sz="1000">
                <a:solidFill>
                  <a:srgbClr val="5F6973"/>
                </a:solidFill>
              </a:defRPr>
            </a:pPr>
            <a:r>
              <a:t>Including Tech Enthusiasts, Foodies and Health &amp; Wellness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The dataset supports comparisons across multiple campaign types, channels and customer groups.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High impressions represent visibility, but they do not automatically mean high engagement or business effectiveness.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Channel and customer-segment comparisons provide a practical basis for deciding where to test or reallocate marketing effort.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Slide 4 — Deep-Dive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Why reach should be evaluated together with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Initial expectation: channels with the largest number of impressions would automatically be the strongest performers.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What the analysis tests: whether higher-impression channels also produce stronger engagement, and whether lower-reach channels can be more engaging.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Business interpretation: a campaign can create substantial visibility without creating proportional customer interaction.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Additional analysis: compare average impressions and average engagement by Channel_Used and Campaign_Type using pivot tables.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Conclusion: management should avoid optimizing for impressions alone; channel decisions should consider reach and engagement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Slide 5 —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27432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344168"/>
            <a:ext cx="217719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rPr dirty="0"/>
              <a:t>1. Prioritize balanced </a:t>
            </a:r>
            <a:r>
              <a:rPr dirty="0" err="1"/>
              <a:t>performan</a:t>
            </a:r>
            <a:r>
              <a:rPr lang="en-IN" dirty="0" err="1"/>
              <a:t>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593592" y="1325880"/>
            <a:ext cx="7818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Owner: Marketing Manager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Outcome: Better-quality reach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Success measure: Track both measures monthly.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27432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944368"/>
            <a:ext cx="195438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rPr dirty="0"/>
              <a:t>2. Segment campaign decisions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endParaRPr dirty="0"/>
          </a:p>
          <a:p>
            <a:pPr>
              <a:defRPr sz="10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523488" y="2926080"/>
            <a:ext cx="7818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Owner: Growth / CRM Team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Outcome: More relevant targeting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Success measure: Compare engagement by segment and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27432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4544568"/>
            <a:ext cx="199125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</a:defRPr>
            </a:pPr>
            <a:r>
              <a:rPr dirty="0"/>
              <a:t>3. Run controlled channel tests</a:t>
            </a:r>
          </a:p>
          <a:p>
            <a:pPr>
              <a:defRPr sz="2100" b="1">
                <a:solidFill>
                  <a:srgbClr val="192D4B"/>
                </a:solidFill>
              </a:defRPr>
            </a:pPr>
            <a:endParaRPr dirty="0"/>
          </a:p>
          <a:p>
            <a:pPr>
              <a:defRPr sz="1000">
                <a:solidFill>
                  <a:srgbClr val="5F6973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564310" y="4544568"/>
            <a:ext cx="7818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Owner: Marketing + Analytics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Outcome: Evidence-based allocation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Success measure: Measure performance before/after the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Slide 6 — 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Improve marketing efficiency by shifting attention from raw reach toward meaningful engagement.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Reduce the risk of overspending on channels that generate visibility but comparatively weak interaction.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Improve targeting decisions by comparing customer segments instead of treating all audiences equally.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Success measures: average engagement, impressions per campaign, engagement rate where available, and performance by channel/segment.</a:t>
            </a:r>
          </a:p>
          <a:p>
            <a:pPr>
              <a:spcAft>
                <a:spcPts val="1200"/>
              </a:spcAft>
              <a:defRPr sz="1800">
                <a:solidFill>
                  <a:srgbClr val="232323"/>
                </a:solidFill>
              </a:defRPr>
            </a:pPr>
            <a:r>
              <a:t>Review these measures over multiple periods before making permanent budget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Slide 7 —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Limitation 1: the assessment uses a working extract, so results should not automatically be treated as the complete population.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Limitation 2: the available fields do not establish causation; higher engagement does not prove that a channel caused better business results.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Limitation 3: important commercial outcomes such as actual revenue or profit may not be available in the working extract.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Next step: connect campaign performance with conversions, acquisition cost and revenue, then evaluate ROI by channel and customer segment.</a:t>
            </a:r>
          </a:p>
          <a:p>
            <a:pPr>
              <a:spcAft>
                <a:spcPts val="1200"/>
              </a:spcAft>
              <a:defRPr sz="1700">
                <a:solidFill>
                  <a:srgbClr val="232323"/>
                </a:solidFill>
              </a:defRPr>
            </a:pPr>
            <a:r>
              <a:t>Management caution: use the findings to prioritize experiments and further analysis, not as a reason to make irreversible budget decisions immediately.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478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</TotalTime>
  <Words>653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mayank sharma</cp:lastModifiedBy>
  <cp:revision>2</cp:revision>
  <dcterms:created xsi:type="dcterms:W3CDTF">2013-01-27T09:14:16Z</dcterms:created>
  <dcterms:modified xsi:type="dcterms:W3CDTF">2026-09-11T13:03:34Z</dcterms:modified>
  <cp:category/>
</cp:coreProperties>
</file>